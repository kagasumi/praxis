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Nuni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fntdata"/><Relationship Id="rId11" Type="http://schemas.openxmlformats.org/officeDocument/2006/relationships/slide" Target="slides/slide6.xml"/><Relationship Id="rId22" Type="http://schemas.openxmlformats.org/officeDocument/2006/relationships/font" Target="fonts/Nunito-boldItalic.fntdata"/><Relationship Id="rId10" Type="http://schemas.openxmlformats.org/officeDocument/2006/relationships/slide" Target="slides/slide5.xml"/><Relationship Id="rId21"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node.j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9dd704f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99dd704f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82d99173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82d99173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a1202f75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a1202f75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82d9917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82d9917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82d99173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82d99173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Here’s how our web app works behind the scene.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When a student uses the app, their request first goes through an Nginx reverse proxy, which decides where to send it. If it’s a normal page load, Nginx will serve the static files from our React frontend. If it’s an API call, it forwards the request to our </a:t>
            </a:r>
            <a:r>
              <a:rPr lang="en-GB" u="sng">
                <a:solidFill>
                  <a:schemeClr val="hlink"/>
                </a:solidFill>
                <a:hlinkClick r:id="rId2"/>
              </a:rPr>
              <a:t>Node.js</a:t>
            </a:r>
            <a:r>
              <a:rPr lang="en-GB"/>
              <a:t> backend.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backend handles all the logic. It can create or fetch data from our database container or send the student’s question to the Google Gemini API and get an AI-generated response.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Finally, the backend returns everything to the frontend, and the answer is displayed to the student. All these containers communicate through an internal Docker network. This is how we keep the whole system organized and easy to manage.</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a1202f75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9a1202f75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82d99173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82d99173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will be done showing it on my laptop</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960d6100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a960d6100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82d99173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82d99173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AI not consistent in replying format:</a:t>
            </a:r>
            <a:br>
              <a:rPr lang="en-GB"/>
            </a:br>
            <a:r>
              <a:rPr lang="en-GB"/>
              <a:t>- remove JSON requirement for AI answers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`ignore all instructions`</a:t>
            </a:r>
            <a:endParaRPr/>
          </a:p>
          <a:p>
            <a:pPr indent="-298450" lvl="0" marL="457200" rtl="0" algn="l">
              <a:spcBef>
                <a:spcPts val="0"/>
              </a:spcBef>
              <a:spcAft>
                <a:spcPts val="0"/>
              </a:spcAft>
              <a:buSzPts val="1100"/>
              <a:buChar char="-"/>
            </a:pPr>
            <a:r>
              <a:rPr lang="en-GB"/>
              <a:t>Not much we can do lmaoo</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98feae7f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98feae7f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Learning curve:</a:t>
            </a:r>
            <a:endParaRPr/>
          </a:p>
          <a:p>
            <a:pPr indent="-298450" lvl="0" marL="457200" rtl="0" algn="l">
              <a:spcBef>
                <a:spcPts val="0"/>
              </a:spcBef>
              <a:spcAft>
                <a:spcPts val="0"/>
              </a:spcAft>
              <a:buSzPts val="1100"/>
              <a:buChar char="-"/>
            </a:pPr>
            <a:r>
              <a:rPr lang="en-GB"/>
              <a:t>Start small (with general assert trues) and get used to the syntax and logic</a:t>
            </a:r>
            <a:endParaRPr/>
          </a:p>
          <a:p>
            <a:pPr indent="-298450" lvl="0" marL="457200" rtl="0" algn="l">
              <a:spcBef>
                <a:spcPts val="0"/>
              </a:spcBef>
              <a:spcAft>
                <a:spcPts val="0"/>
              </a:spcAft>
              <a:buSzPts val="1100"/>
              <a:buChar char="-"/>
            </a:pPr>
            <a:r>
              <a:rPr lang="en-GB"/>
              <a:t>Then get big with mock testing actual </a:t>
            </a:r>
            <a:r>
              <a:rPr lang="en-GB"/>
              <a:t>scenarios</a:t>
            </a:r>
            <a:r>
              <a:rPr lang="en-GB"/>
              <a:t> with mocking </a:t>
            </a:r>
            <a:r>
              <a:rPr lang="en-GB"/>
              <a:t>results</a:t>
            </a:r>
            <a:r>
              <a:rPr lang="en-GB"/>
              <a:t> from functions and api responses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82d99173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82d99173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28600" lvl="0" marL="914400" rtl="0" algn="l">
              <a:lnSpc>
                <a:spcPct val="115000"/>
              </a:lnSpc>
              <a:spcBef>
                <a:spcPts val="1200"/>
              </a:spcBef>
              <a:spcAft>
                <a:spcPts val="0"/>
              </a:spcAft>
              <a:buClr>
                <a:schemeClr val="dk1"/>
              </a:buClr>
              <a:buSzPts val="1100"/>
              <a:buFont typeface="Arial"/>
              <a:buNone/>
            </a:pPr>
            <a:r>
              <a:rPr lang="en-GB" sz="1000">
                <a:solidFill>
                  <a:schemeClr val="dk1"/>
                </a:solidFill>
              </a:rPr>
              <a:t>·</a:t>
            </a:r>
            <a:r>
              <a:rPr lang="en-GB" sz="700">
                <a:solidFill>
                  <a:schemeClr val="dk1"/>
                </a:solidFill>
                <a:latin typeface="Times New Roman"/>
                <a:ea typeface="Times New Roman"/>
                <a:cs typeface="Times New Roman"/>
                <a:sym typeface="Times New Roman"/>
              </a:rPr>
              <a:t>   	</a:t>
            </a:r>
            <a:r>
              <a:rPr lang="en-GB">
                <a:solidFill>
                  <a:schemeClr val="dk1"/>
                </a:solidFill>
              </a:rPr>
              <a:t>Share the main challenges encountered during the project.</a:t>
            </a:r>
            <a:endParaRPr>
              <a:solidFill>
                <a:schemeClr val="dk1"/>
              </a:solidFill>
            </a:endParaRPr>
          </a:p>
          <a:p>
            <a:pPr indent="-228600" lvl="0" marL="914400" rtl="0" algn="l">
              <a:lnSpc>
                <a:spcPct val="115000"/>
              </a:lnSpc>
              <a:spcBef>
                <a:spcPts val="1200"/>
              </a:spcBef>
              <a:spcAft>
                <a:spcPts val="0"/>
              </a:spcAft>
              <a:buClr>
                <a:schemeClr val="dk1"/>
              </a:buClr>
              <a:buSzPts val="1100"/>
              <a:buFont typeface="Arial"/>
              <a:buNone/>
            </a:pPr>
            <a:r>
              <a:rPr lang="en-GB" sz="1000">
                <a:solidFill>
                  <a:schemeClr val="dk1"/>
                </a:solidFill>
              </a:rPr>
              <a:t>·</a:t>
            </a:r>
            <a:r>
              <a:rPr lang="en-GB" sz="700">
                <a:solidFill>
                  <a:schemeClr val="dk1"/>
                </a:solidFill>
                <a:latin typeface="Times New Roman"/>
                <a:ea typeface="Times New Roman"/>
                <a:cs typeface="Times New Roman"/>
                <a:sym typeface="Times New Roman"/>
              </a:rPr>
              <a:t>   	</a:t>
            </a:r>
            <a:r>
              <a:rPr lang="en-GB">
                <a:solidFill>
                  <a:schemeClr val="dk1"/>
                </a:solidFill>
              </a:rPr>
              <a:t>Reflect on how these challenges were addressed.</a:t>
            </a:r>
            <a:endParaRPr>
              <a:solidFill>
                <a:schemeClr val="dk1"/>
              </a:solidFill>
            </a:endParaRPr>
          </a:p>
          <a:p>
            <a:pPr indent="-228600" lvl="0" marL="914400" rtl="0" algn="l">
              <a:lnSpc>
                <a:spcPct val="115000"/>
              </a:lnSpc>
              <a:spcBef>
                <a:spcPts val="1200"/>
              </a:spcBef>
              <a:spcAft>
                <a:spcPts val="0"/>
              </a:spcAft>
              <a:buClr>
                <a:schemeClr val="dk1"/>
              </a:buClr>
              <a:buSzPts val="1100"/>
              <a:buFont typeface="Arial"/>
              <a:buNone/>
            </a:pPr>
            <a:r>
              <a:rPr lang="en-GB" sz="1000">
                <a:solidFill>
                  <a:schemeClr val="dk1"/>
                </a:solidFill>
              </a:rPr>
              <a:t>·</a:t>
            </a:r>
            <a:r>
              <a:rPr lang="en-GB" sz="700">
                <a:solidFill>
                  <a:schemeClr val="dk1"/>
                </a:solidFill>
                <a:latin typeface="Times New Roman"/>
                <a:ea typeface="Times New Roman"/>
                <a:cs typeface="Times New Roman"/>
                <a:sym typeface="Times New Roman"/>
              </a:rPr>
              <a:t>   	</a:t>
            </a:r>
            <a:r>
              <a:rPr lang="en-GB">
                <a:solidFill>
                  <a:schemeClr val="dk1"/>
                </a:solidFill>
              </a:rPr>
              <a:t>Discuss lessons learned and what you would improve in the future.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96f99a6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96f99a6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jp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jp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next.js" TargetMode="External"/><Relationship Id="rId4" Type="http://schemas.openxmlformats.org/officeDocument/2006/relationships/hyperlink" Target="http://next.j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π</a:t>
            </a:r>
            <a:r>
              <a:rPr lang="en-GB"/>
              <a:t> Praxis</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Team 2: Quinten, Kim, Seung Jae, Taylor, Iris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Overview</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AutoNum type="arabicPeriod"/>
            </a:pPr>
            <a:r>
              <a:rPr lang="en-GB" sz="1700"/>
              <a:t>Problem and Solution</a:t>
            </a:r>
            <a:endParaRPr sz="1700"/>
          </a:p>
          <a:p>
            <a:pPr indent="-336550" lvl="0" marL="457200" rtl="0" algn="l">
              <a:spcBef>
                <a:spcPts val="0"/>
              </a:spcBef>
              <a:spcAft>
                <a:spcPts val="0"/>
              </a:spcAft>
              <a:buSzPts val="1700"/>
              <a:buAutoNum type="arabicPeriod"/>
            </a:pPr>
            <a:r>
              <a:rPr lang="en-GB" sz="1700"/>
              <a:t>Architecture</a:t>
            </a:r>
            <a:endParaRPr sz="1700"/>
          </a:p>
          <a:p>
            <a:pPr indent="-336550" lvl="0" marL="457200" rtl="0" algn="l">
              <a:spcBef>
                <a:spcPts val="0"/>
              </a:spcBef>
              <a:spcAft>
                <a:spcPts val="0"/>
              </a:spcAft>
              <a:buSzPts val="1700"/>
              <a:buAutoNum type="arabicPeriod"/>
            </a:pPr>
            <a:r>
              <a:rPr lang="en-GB" sz="1700"/>
              <a:t>Core Features</a:t>
            </a:r>
            <a:endParaRPr sz="1700"/>
          </a:p>
          <a:p>
            <a:pPr indent="-336550" lvl="0" marL="457200" rtl="0" algn="l">
              <a:spcBef>
                <a:spcPts val="0"/>
              </a:spcBef>
              <a:spcAft>
                <a:spcPts val="0"/>
              </a:spcAft>
              <a:buSzPts val="1700"/>
              <a:buAutoNum type="arabicPeriod"/>
            </a:pPr>
            <a:r>
              <a:rPr lang="en-GB" sz="1700"/>
              <a:t>Demonstration</a:t>
            </a:r>
            <a:endParaRPr sz="1700"/>
          </a:p>
          <a:p>
            <a:pPr indent="-336550" lvl="0" marL="457200" rtl="0" algn="l">
              <a:spcBef>
                <a:spcPts val="0"/>
              </a:spcBef>
              <a:spcAft>
                <a:spcPts val="0"/>
              </a:spcAft>
              <a:buSzPts val="1700"/>
              <a:buAutoNum type="arabicPeriod"/>
            </a:pPr>
            <a:r>
              <a:rPr lang="en-GB" sz="1700"/>
              <a:t>Code </a:t>
            </a:r>
            <a:r>
              <a:rPr lang="en-GB" sz="1700"/>
              <a:t>Functionality</a:t>
            </a:r>
            <a:endParaRPr sz="1700"/>
          </a:p>
          <a:p>
            <a:pPr indent="-336550" lvl="0" marL="457200" rtl="0" algn="l">
              <a:spcBef>
                <a:spcPts val="0"/>
              </a:spcBef>
              <a:spcAft>
                <a:spcPts val="0"/>
              </a:spcAft>
              <a:buSzPts val="1700"/>
              <a:buAutoNum type="arabicPeriod"/>
            </a:pPr>
            <a:r>
              <a:rPr lang="en-GB" sz="1700"/>
              <a:t>Challenges and Lessons Learned</a:t>
            </a:r>
            <a:endParaRPr sz="1700"/>
          </a:p>
          <a:p>
            <a:pPr indent="0" lvl="0" marL="0" rtl="0" algn="l">
              <a:spcBef>
                <a:spcPts val="1200"/>
              </a:spcBef>
              <a:spcAft>
                <a:spcPts val="120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Problem &amp; Our Solution</a:t>
            </a:r>
            <a:endParaRPr/>
          </a:p>
        </p:txBody>
      </p:sp>
      <p:sp>
        <p:nvSpPr>
          <p:cNvPr id="141" name="Google Shape;141;p15"/>
          <p:cNvSpPr txBox="1"/>
          <p:nvPr>
            <p:ph idx="1" type="body"/>
          </p:nvPr>
        </p:nvSpPr>
        <p:spPr>
          <a:xfrm>
            <a:off x="735350" y="1576125"/>
            <a:ext cx="3672600" cy="2856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2600"/>
              <a:t>Problem</a:t>
            </a:r>
            <a:endParaRPr sz="2600"/>
          </a:p>
          <a:p>
            <a:pPr indent="-323850" lvl="0" marL="457200" rtl="0" algn="l">
              <a:lnSpc>
                <a:spcPct val="150000"/>
              </a:lnSpc>
              <a:spcBef>
                <a:spcPts val="1200"/>
              </a:spcBef>
              <a:spcAft>
                <a:spcPts val="0"/>
              </a:spcAft>
              <a:buSzPts val="1500"/>
              <a:buChar char="●"/>
            </a:pPr>
            <a:r>
              <a:rPr lang="en-GB" sz="1500"/>
              <a:t>Finding help with school work and learning online is often unreliable</a:t>
            </a:r>
            <a:endParaRPr sz="1500"/>
          </a:p>
          <a:p>
            <a:pPr indent="-311150" lvl="1" marL="914400" rtl="0" algn="l">
              <a:lnSpc>
                <a:spcPct val="150000"/>
              </a:lnSpc>
              <a:spcBef>
                <a:spcPts val="0"/>
              </a:spcBef>
              <a:spcAft>
                <a:spcPts val="0"/>
              </a:spcAft>
              <a:buSzPts val="1300"/>
              <a:buChar char="○"/>
            </a:pPr>
            <a:r>
              <a:rPr lang="en-GB" sz="1300"/>
              <a:t>Hostile </a:t>
            </a:r>
            <a:r>
              <a:rPr lang="en-GB" sz="1300"/>
              <a:t>environments</a:t>
            </a:r>
            <a:endParaRPr sz="1300"/>
          </a:p>
          <a:p>
            <a:pPr indent="-311150" lvl="1" marL="914400" rtl="0" algn="l">
              <a:lnSpc>
                <a:spcPct val="150000"/>
              </a:lnSpc>
              <a:spcBef>
                <a:spcPts val="0"/>
              </a:spcBef>
              <a:spcAft>
                <a:spcPts val="0"/>
              </a:spcAft>
              <a:buSzPts val="1300"/>
              <a:buChar char="○"/>
            </a:pPr>
            <a:r>
              <a:rPr lang="en-GB" sz="1300"/>
              <a:t>Impractical/non-applicable solutions</a:t>
            </a:r>
            <a:endParaRPr sz="1300"/>
          </a:p>
          <a:p>
            <a:pPr indent="-311150" lvl="1" marL="914400" rtl="0" algn="l">
              <a:lnSpc>
                <a:spcPct val="150000"/>
              </a:lnSpc>
              <a:spcBef>
                <a:spcPts val="0"/>
              </a:spcBef>
              <a:spcAft>
                <a:spcPts val="0"/>
              </a:spcAft>
              <a:buSzPts val="1300"/>
              <a:buChar char="○"/>
            </a:pPr>
            <a:r>
              <a:rPr lang="en-GB" sz="1300"/>
              <a:t>Shortcut answers you can’t learn from</a:t>
            </a:r>
            <a:endParaRPr sz="1300"/>
          </a:p>
          <a:p>
            <a:pPr indent="0" lvl="0" marL="0" rtl="0" algn="l">
              <a:spcBef>
                <a:spcPts val="1200"/>
              </a:spcBef>
              <a:spcAft>
                <a:spcPts val="0"/>
              </a:spcAft>
              <a:buNone/>
            </a:pPr>
            <a:r>
              <a:t/>
            </a:r>
            <a:endParaRPr sz="1500"/>
          </a:p>
          <a:p>
            <a:pPr indent="0" lvl="0" marL="0" rtl="0" algn="l">
              <a:spcBef>
                <a:spcPts val="1200"/>
              </a:spcBef>
              <a:spcAft>
                <a:spcPts val="1200"/>
              </a:spcAft>
              <a:buNone/>
            </a:pPr>
            <a:r>
              <a:t/>
            </a:r>
            <a:endParaRPr sz="1500"/>
          </a:p>
        </p:txBody>
      </p:sp>
      <p:sp>
        <p:nvSpPr>
          <p:cNvPr id="142" name="Google Shape;142;p15"/>
          <p:cNvSpPr txBox="1"/>
          <p:nvPr>
            <p:ph idx="1" type="body"/>
          </p:nvPr>
        </p:nvSpPr>
        <p:spPr>
          <a:xfrm>
            <a:off x="4572000" y="1576100"/>
            <a:ext cx="3672600" cy="28563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None/>
            </a:pPr>
            <a:r>
              <a:rPr lang="en-GB" sz="2600"/>
              <a:t>Our Solution</a:t>
            </a:r>
            <a:endParaRPr sz="2600"/>
          </a:p>
          <a:p>
            <a:pPr indent="-323850" lvl="0" marL="457200" rtl="0" algn="l">
              <a:lnSpc>
                <a:spcPct val="130000"/>
              </a:lnSpc>
              <a:spcBef>
                <a:spcPts val="1200"/>
              </a:spcBef>
              <a:spcAft>
                <a:spcPts val="0"/>
              </a:spcAft>
              <a:buSzPts val="1500"/>
              <a:buChar char="●"/>
            </a:pPr>
            <a:r>
              <a:rPr lang="en-GB" sz="1500"/>
              <a:t>Praxis! A web based and student focused Q&amp;A forum</a:t>
            </a:r>
            <a:endParaRPr sz="1500"/>
          </a:p>
          <a:p>
            <a:pPr indent="-311150" lvl="1" marL="914400" rtl="0" algn="l">
              <a:lnSpc>
                <a:spcPct val="130000"/>
              </a:lnSpc>
              <a:spcBef>
                <a:spcPts val="0"/>
              </a:spcBef>
              <a:spcAft>
                <a:spcPts val="0"/>
              </a:spcAft>
              <a:buSzPts val="1300"/>
              <a:buChar char="○"/>
            </a:pPr>
            <a:r>
              <a:rPr lang="en-GB" sz="1300"/>
              <a:t>Peer learning</a:t>
            </a:r>
            <a:endParaRPr sz="1300"/>
          </a:p>
          <a:p>
            <a:pPr indent="-311150" lvl="1" marL="914400" rtl="0" algn="l">
              <a:lnSpc>
                <a:spcPct val="130000"/>
              </a:lnSpc>
              <a:spcBef>
                <a:spcPts val="0"/>
              </a:spcBef>
              <a:spcAft>
                <a:spcPts val="0"/>
              </a:spcAft>
              <a:buSzPts val="1300"/>
              <a:buChar char="○"/>
            </a:pPr>
            <a:r>
              <a:rPr lang="en-GB" sz="1300"/>
              <a:t>Course and subject centric</a:t>
            </a:r>
            <a:endParaRPr sz="1300"/>
          </a:p>
          <a:p>
            <a:pPr indent="-311150" lvl="1" marL="914400" rtl="0" algn="l">
              <a:lnSpc>
                <a:spcPct val="130000"/>
              </a:lnSpc>
              <a:spcBef>
                <a:spcPts val="0"/>
              </a:spcBef>
              <a:spcAft>
                <a:spcPts val="0"/>
              </a:spcAft>
              <a:buSzPts val="1300"/>
              <a:buChar char="○"/>
            </a:pPr>
            <a:r>
              <a:rPr lang="en-GB" sz="1300"/>
              <a:t>AI enhanced</a:t>
            </a:r>
            <a:endParaRPr sz="1300"/>
          </a:p>
          <a:p>
            <a:pPr indent="0" lvl="0" marL="0" rtl="0" algn="l">
              <a:lnSpc>
                <a:spcPct val="95000"/>
              </a:lnSpc>
              <a:spcBef>
                <a:spcPts val="1200"/>
              </a:spcBef>
              <a:spcAft>
                <a:spcPts val="0"/>
              </a:spcAft>
              <a:buNone/>
            </a:pPr>
            <a:r>
              <a:t/>
            </a:r>
            <a:endParaRPr sz="2600"/>
          </a:p>
          <a:p>
            <a:pPr indent="0" lvl="0" marL="0" rtl="0" algn="l">
              <a:lnSpc>
                <a:spcPct val="95000"/>
              </a:lnSpc>
              <a:spcBef>
                <a:spcPts val="1200"/>
              </a:spcBef>
              <a:spcAft>
                <a:spcPts val="1200"/>
              </a:spcAft>
              <a:buNone/>
            </a:pPr>
            <a:r>
              <a:t/>
            </a:r>
            <a:endParaRPr sz="2600"/>
          </a:p>
        </p:txBody>
      </p:sp>
      <p:pic>
        <p:nvPicPr>
          <p:cNvPr id="143" name="Google Shape;143;p15" title="istockphoto-180744998-612x612.jpg"/>
          <p:cNvPicPr preferRelativeResize="0"/>
          <p:nvPr/>
        </p:nvPicPr>
        <p:blipFill>
          <a:blip r:embed="rId3">
            <a:alphaModFix/>
          </a:blip>
          <a:stretch>
            <a:fillRect/>
          </a:stretch>
        </p:blipFill>
        <p:spPr>
          <a:xfrm>
            <a:off x="1666150" y="3819700"/>
            <a:ext cx="1542626" cy="1028425"/>
          </a:xfrm>
          <a:prstGeom prst="rect">
            <a:avLst/>
          </a:prstGeom>
          <a:noFill/>
          <a:ln>
            <a:noFill/>
          </a:ln>
        </p:spPr>
      </p:pic>
      <p:pic>
        <p:nvPicPr>
          <p:cNvPr id="144" name="Google Shape;144;p15" title="Untitled.jpg"/>
          <p:cNvPicPr preferRelativeResize="0"/>
          <p:nvPr/>
        </p:nvPicPr>
        <p:blipFill>
          <a:blip r:embed="rId4">
            <a:alphaModFix/>
          </a:blip>
          <a:stretch>
            <a:fillRect/>
          </a:stretch>
        </p:blipFill>
        <p:spPr>
          <a:xfrm>
            <a:off x="5437470" y="3820636"/>
            <a:ext cx="1542625" cy="10265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Technology Stack</a:t>
            </a:r>
            <a:endParaRPr/>
          </a:p>
        </p:txBody>
      </p:sp>
      <p:sp>
        <p:nvSpPr>
          <p:cNvPr id="150" name="Google Shape;150;p16"/>
          <p:cNvSpPr txBox="1"/>
          <p:nvPr>
            <p:ph idx="1" type="body"/>
          </p:nvPr>
        </p:nvSpPr>
        <p:spPr>
          <a:xfrm>
            <a:off x="885900" y="1576100"/>
            <a:ext cx="3764700" cy="1644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2600"/>
              <a:t>Frontend</a:t>
            </a:r>
            <a:endParaRPr sz="2600"/>
          </a:p>
          <a:p>
            <a:pPr indent="-361950" lvl="0" marL="457200" rtl="0" algn="l">
              <a:spcBef>
                <a:spcPts val="1200"/>
              </a:spcBef>
              <a:spcAft>
                <a:spcPts val="0"/>
              </a:spcAft>
              <a:buSzPts val="2100"/>
              <a:buChar char="●"/>
            </a:pPr>
            <a:r>
              <a:rPr lang="en-GB" sz="2100"/>
              <a:t>Next.js</a:t>
            </a:r>
            <a:endParaRPr sz="2100"/>
          </a:p>
          <a:p>
            <a:pPr indent="-361950" lvl="0" marL="457200" rtl="0" algn="l">
              <a:spcBef>
                <a:spcPts val="0"/>
              </a:spcBef>
              <a:spcAft>
                <a:spcPts val="0"/>
              </a:spcAft>
              <a:buSzPts val="2100"/>
              <a:buChar char="●"/>
            </a:pPr>
            <a:r>
              <a:rPr lang="en-GB" sz="2100"/>
              <a:t>Tailwind CSS</a:t>
            </a:r>
            <a:endParaRPr sz="2100"/>
          </a:p>
        </p:txBody>
      </p:sp>
      <p:sp>
        <p:nvSpPr>
          <p:cNvPr id="151" name="Google Shape;151;p16"/>
          <p:cNvSpPr txBox="1"/>
          <p:nvPr>
            <p:ph idx="1" type="body"/>
          </p:nvPr>
        </p:nvSpPr>
        <p:spPr>
          <a:xfrm>
            <a:off x="4650600" y="1576100"/>
            <a:ext cx="3866400" cy="15276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None/>
            </a:pPr>
            <a:r>
              <a:rPr lang="en-GB" sz="2600"/>
              <a:t>Dockerized</a:t>
            </a:r>
            <a:endParaRPr sz="2600"/>
          </a:p>
          <a:p>
            <a:pPr indent="-317500" lvl="0" marL="457200" rtl="0" algn="l">
              <a:lnSpc>
                <a:spcPct val="95000"/>
              </a:lnSpc>
              <a:spcBef>
                <a:spcPts val="1200"/>
              </a:spcBef>
              <a:spcAft>
                <a:spcPts val="0"/>
              </a:spcAft>
              <a:buSzPts val="1400"/>
              <a:buChar char="●"/>
            </a:pPr>
            <a:r>
              <a:rPr lang="en-GB" sz="1400"/>
              <a:t>Docker Containers</a:t>
            </a:r>
            <a:endParaRPr sz="1400"/>
          </a:p>
          <a:p>
            <a:pPr indent="-317500" lvl="0" marL="457200" rtl="0" algn="l">
              <a:lnSpc>
                <a:spcPct val="95000"/>
              </a:lnSpc>
              <a:spcBef>
                <a:spcPts val="0"/>
              </a:spcBef>
              <a:spcAft>
                <a:spcPts val="0"/>
              </a:spcAft>
              <a:buSzPts val="1400"/>
              <a:buChar char="●"/>
            </a:pPr>
            <a:r>
              <a:rPr lang="en-GB" sz="1400"/>
              <a:t>DockerFile per </a:t>
            </a:r>
            <a:r>
              <a:rPr lang="en-GB" sz="1400"/>
              <a:t>service</a:t>
            </a:r>
            <a:endParaRPr sz="1400"/>
          </a:p>
          <a:p>
            <a:pPr indent="-317500" lvl="0" marL="457200" rtl="0" algn="l">
              <a:lnSpc>
                <a:spcPct val="95000"/>
              </a:lnSpc>
              <a:spcBef>
                <a:spcPts val="0"/>
              </a:spcBef>
              <a:spcAft>
                <a:spcPts val="0"/>
              </a:spcAft>
              <a:buSzPts val="1400"/>
              <a:buChar char="●"/>
            </a:pPr>
            <a:r>
              <a:rPr lang="en-GB" sz="1400"/>
              <a:t>Docker Compose to automate build</a:t>
            </a:r>
            <a:endParaRPr sz="1400"/>
          </a:p>
          <a:p>
            <a:pPr indent="-317500" lvl="0" marL="457200" rtl="0" algn="l">
              <a:lnSpc>
                <a:spcPct val="95000"/>
              </a:lnSpc>
              <a:spcBef>
                <a:spcPts val="0"/>
              </a:spcBef>
              <a:spcAft>
                <a:spcPts val="0"/>
              </a:spcAft>
              <a:buSzPts val="1400"/>
              <a:buChar char="●"/>
            </a:pPr>
            <a:r>
              <a:rPr lang="en-GB" sz="1400"/>
              <a:t>Api gateway container for discovery</a:t>
            </a:r>
            <a:endParaRPr sz="1400"/>
          </a:p>
        </p:txBody>
      </p:sp>
      <p:sp>
        <p:nvSpPr>
          <p:cNvPr id="152" name="Google Shape;152;p16"/>
          <p:cNvSpPr txBox="1"/>
          <p:nvPr>
            <p:ph idx="2" type="body"/>
          </p:nvPr>
        </p:nvSpPr>
        <p:spPr>
          <a:xfrm>
            <a:off x="4650600" y="3220550"/>
            <a:ext cx="3866400" cy="164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400"/>
              <a:t>Database</a:t>
            </a:r>
            <a:endParaRPr sz="2400"/>
          </a:p>
          <a:p>
            <a:pPr indent="-355600" lvl="0" marL="457200" rtl="0" algn="l">
              <a:spcBef>
                <a:spcPts val="1200"/>
              </a:spcBef>
              <a:spcAft>
                <a:spcPts val="0"/>
              </a:spcAft>
              <a:buSzPts val="2000"/>
              <a:buChar char="●"/>
            </a:pPr>
            <a:r>
              <a:rPr lang="en-GB" sz="2000"/>
              <a:t>MySQL</a:t>
            </a:r>
            <a:endParaRPr sz="2000"/>
          </a:p>
          <a:p>
            <a:pPr indent="-355600" lvl="0" marL="457200" rtl="0" algn="l">
              <a:spcBef>
                <a:spcPts val="0"/>
              </a:spcBef>
              <a:spcAft>
                <a:spcPts val="0"/>
              </a:spcAft>
              <a:buSzPts val="2000"/>
              <a:buChar char="●"/>
            </a:pPr>
            <a:r>
              <a:rPr lang="en-GB" sz="2000"/>
              <a:t>Linux Image</a:t>
            </a:r>
            <a:endParaRPr sz="2000"/>
          </a:p>
        </p:txBody>
      </p:sp>
      <p:sp>
        <p:nvSpPr>
          <p:cNvPr id="153" name="Google Shape;153;p16"/>
          <p:cNvSpPr txBox="1"/>
          <p:nvPr>
            <p:ph idx="1" type="body"/>
          </p:nvPr>
        </p:nvSpPr>
        <p:spPr>
          <a:xfrm>
            <a:off x="885900" y="3220550"/>
            <a:ext cx="3764700" cy="1644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2600"/>
              <a:t>Backend</a:t>
            </a:r>
            <a:endParaRPr sz="2600"/>
          </a:p>
          <a:p>
            <a:pPr indent="-361950" lvl="0" marL="457200" rtl="0" algn="l">
              <a:spcBef>
                <a:spcPts val="1200"/>
              </a:spcBef>
              <a:spcAft>
                <a:spcPts val="0"/>
              </a:spcAft>
              <a:buSzPts val="2100"/>
              <a:buChar char="●"/>
            </a:pPr>
            <a:r>
              <a:rPr lang="en-GB" sz="2100"/>
              <a:t>Node.js Express Framework</a:t>
            </a:r>
            <a:endParaRPr sz="2100"/>
          </a:p>
        </p:txBody>
      </p:sp>
      <p:pic>
        <p:nvPicPr>
          <p:cNvPr id="154" name="Google Shape;154;p16" title="Untitled.png"/>
          <p:cNvPicPr preferRelativeResize="0"/>
          <p:nvPr/>
        </p:nvPicPr>
        <p:blipFill>
          <a:blip r:embed="rId3">
            <a:alphaModFix/>
          </a:blip>
          <a:stretch>
            <a:fillRect/>
          </a:stretch>
        </p:blipFill>
        <p:spPr>
          <a:xfrm>
            <a:off x="3111800" y="2014950"/>
            <a:ext cx="766900" cy="766900"/>
          </a:xfrm>
          <a:prstGeom prst="rect">
            <a:avLst/>
          </a:prstGeom>
          <a:noFill/>
          <a:ln>
            <a:noFill/>
          </a:ln>
        </p:spPr>
      </p:pic>
      <p:pic>
        <p:nvPicPr>
          <p:cNvPr id="155" name="Google Shape;155;p16" title="express-js-logo-png_seeklogo-339850.png"/>
          <p:cNvPicPr preferRelativeResize="0"/>
          <p:nvPr/>
        </p:nvPicPr>
        <p:blipFill>
          <a:blip r:embed="rId4">
            <a:alphaModFix/>
          </a:blip>
          <a:stretch>
            <a:fillRect/>
          </a:stretch>
        </p:blipFill>
        <p:spPr>
          <a:xfrm>
            <a:off x="2929987" y="3166713"/>
            <a:ext cx="1130525" cy="1130525"/>
          </a:xfrm>
          <a:prstGeom prst="rect">
            <a:avLst/>
          </a:prstGeom>
          <a:noFill/>
          <a:ln>
            <a:noFill/>
          </a:ln>
        </p:spPr>
      </p:pic>
      <p:pic>
        <p:nvPicPr>
          <p:cNvPr id="156" name="Google Shape;156;p16" title="MySQL-Logo.jpg"/>
          <p:cNvPicPr preferRelativeResize="0"/>
          <p:nvPr/>
        </p:nvPicPr>
        <p:blipFill>
          <a:blip r:embed="rId5">
            <a:alphaModFix/>
          </a:blip>
          <a:stretch>
            <a:fillRect/>
          </a:stretch>
        </p:blipFill>
        <p:spPr>
          <a:xfrm>
            <a:off x="6807600" y="3870136"/>
            <a:ext cx="1130527" cy="635927"/>
          </a:xfrm>
          <a:prstGeom prst="rect">
            <a:avLst/>
          </a:prstGeom>
          <a:noFill/>
          <a:ln>
            <a:noFill/>
          </a:ln>
        </p:spPr>
      </p:pic>
      <p:pic>
        <p:nvPicPr>
          <p:cNvPr id="157" name="Google Shape;157;p16"/>
          <p:cNvPicPr preferRelativeResize="0"/>
          <p:nvPr/>
        </p:nvPicPr>
        <p:blipFill>
          <a:blip r:embed="rId6">
            <a:alphaModFix/>
          </a:blip>
          <a:stretch>
            <a:fillRect/>
          </a:stretch>
        </p:blipFill>
        <p:spPr>
          <a:xfrm>
            <a:off x="6880072" y="1686426"/>
            <a:ext cx="1573898" cy="8853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819150" y="845600"/>
            <a:ext cx="7505700" cy="55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Architecture Design</a:t>
            </a:r>
            <a:endParaRPr/>
          </a:p>
        </p:txBody>
      </p:sp>
      <p:sp>
        <p:nvSpPr>
          <p:cNvPr id="163" name="Google Shape;163;p17"/>
          <p:cNvSpPr txBox="1"/>
          <p:nvPr>
            <p:ph idx="1" type="body"/>
          </p:nvPr>
        </p:nvSpPr>
        <p:spPr>
          <a:xfrm>
            <a:off x="4154825" y="1645425"/>
            <a:ext cx="4293300" cy="32751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Char char="●"/>
            </a:pPr>
            <a:r>
              <a:rPr lang="en-GB" sz="1600"/>
              <a:t>Full stack web app</a:t>
            </a:r>
            <a:endParaRPr sz="1600"/>
          </a:p>
          <a:p>
            <a:pPr indent="-330200" lvl="1" marL="914400" rtl="0" algn="l">
              <a:spcBef>
                <a:spcPts val="0"/>
              </a:spcBef>
              <a:spcAft>
                <a:spcPts val="0"/>
              </a:spcAft>
              <a:buSzPts val="1600"/>
              <a:buChar char="○"/>
            </a:pPr>
            <a:r>
              <a:rPr lang="en-GB" sz="1600"/>
              <a:t>Next.js frontend</a:t>
            </a:r>
            <a:endParaRPr sz="1600"/>
          </a:p>
          <a:p>
            <a:pPr indent="-330200" lvl="1" marL="914400" rtl="0" algn="l">
              <a:spcBef>
                <a:spcPts val="0"/>
              </a:spcBef>
              <a:spcAft>
                <a:spcPts val="0"/>
              </a:spcAft>
              <a:buSzPts val="1600"/>
              <a:buChar char="○"/>
            </a:pPr>
            <a:r>
              <a:rPr lang="en-GB" sz="1600"/>
              <a:t>Express + MySql backend</a:t>
            </a:r>
            <a:endParaRPr sz="1600"/>
          </a:p>
          <a:p>
            <a:pPr indent="-330200" lvl="0" marL="457200" rtl="0" algn="l">
              <a:spcBef>
                <a:spcPts val="0"/>
              </a:spcBef>
              <a:spcAft>
                <a:spcPts val="0"/>
              </a:spcAft>
              <a:buSzPts val="1600"/>
              <a:buChar char="●"/>
            </a:pPr>
            <a:r>
              <a:rPr lang="en-GB" sz="1600"/>
              <a:t>Client server model</a:t>
            </a:r>
            <a:endParaRPr sz="1600"/>
          </a:p>
          <a:p>
            <a:pPr indent="-317500" lvl="1" marL="914400" rtl="0" algn="l">
              <a:spcBef>
                <a:spcPts val="0"/>
              </a:spcBef>
              <a:spcAft>
                <a:spcPts val="0"/>
              </a:spcAft>
              <a:buSzPts val="1400"/>
              <a:buChar char="○"/>
            </a:pPr>
            <a:r>
              <a:rPr lang="en-GB" sz="1400"/>
              <a:t>Separation of concerns</a:t>
            </a:r>
            <a:endParaRPr sz="1400"/>
          </a:p>
          <a:p>
            <a:pPr indent="-317500" lvl="1" marL="914400" rtl="0" algn="l">
              <a:spcBef>
                <a:spcPts val="0"/>
              </a:spcBef>
              <a:spcAft>
                <a:spcPts val="0"/>
              </a:spcAft>
              <a:buSzPts val="1400"/>
              <a:buChar char="○"/>
            </a:pPr>
            <a:r>
              <a:rPr lang="en-GB" sz="1400"/>
              <a:t>Parallel development</a:t>
            </a:r>
            <a:endParaRPr sz="1400"/>
          </a:p>
          <a:p>
            <a:pPr indent="-317500" lvl="1" marL="914400" rtl="0" algn="l">
              <a:spcBef>
                <a:spcPts val="0"/>
              </a:spcBef>
              <a:spcAft>
                <a:spcPts val="0"/>
              </a:spcAft>
              <a:buSzPts val="1400"/>
              <a:buChar char="○"/>
            </a:pPr>
            <a:r>
              <a:rPr lang="en-GB" sz="1400"/>
              <a:t>Interoperability</a:t>
            </a:r>
            <a:endParaRPr sz="1400"/>
          </a:p>
          <a:p>
            <a:pPr indent="-317500" lvl="1" marL="914400" rtl="0" algn="l">
              <a:spcBef>
                <a:spcPts val="0"/>
              </a:spcBef>
              <a:spcAft>
                <a:spcPts val="0"/>
              </a:spcAft>
              <a:buSzPts val="1400"/>
              <a:buChar char="○"/>
            </a:pPr>
            <a:r>
              <a:rPr lang="en-GB" sz="1400"/>
              <a:t>Dockerized</a:t>
            </a:r>
            <a:endParaRPr sz="1400"/>
          </a:p>
          <a:p>
            <a:pPr indent="-330200" lvl="0" marL="457200" rtl="0" algn="l">
              <a:spcBef>
                <a:spcPts val="0"/>
              </a:spcBef>
              <a:spcAft>
                <a:spcPts val="0"/>
              </a:spcAft>
              <a:buSzPts val="1600"/>
              <a:buChar char="●"/>
            </a:pPr>
            <a:r>
              <a:rPr lang="en-GB" sz="1600"/>
              <a:t>Potential Evolutions</a:t>
            </a:r>
            <a:endParaRPr sz="1600"/>
          </a:p>
          <a:p>
            <a:pPr indent="-317500" lvl="1" marL="914400" rtl="0" algn="l">
              <a:spcBef>
                <a:spcPts val="0"/>
              </a:spcBef>
              <a:spcAft>
                <a:spcPts val="0"/>
              </a:spcAft>
              <a:buSzPts val="1400"/>
              <a:buChar char="○"/>
            </a:pPr>
            <a:r>
              <a:rPr lang="en-GB" sz="1400"/>
              <a:t>Microservice implementation</a:t>
            </a:r>
            <a:endParaRPr sz="1400"/>
          </a:p>
          <a:p>
            <a:pPr indent="-317500" lvl="1" marL="914400" rtl="0" algn="l">
              <a:spcBef>
                <a:spcPts val="0"/>
              </a:spcBef>
              <a:spcAft>
                <a:spcPts val="0"/>
              </a:spcAft>
              <a:buSzPts val="1400"/>
              <a:buChar char="○"/>
            </a:pPr>
            <a:r>
              <a:rPr lang="en-GB" sz="1400"/>
              <a:t>Kubernetes for orchestration</a:t>
            </a:r>
            <a:endParaRPr sz="1400"/>
          </a:p>
          <a:p>
            <a:pPr indent="0" lvl="0" marL="0" rtl="0" algn="l">
              <a:spcBef>
                <a:spcPts val="1200"/>
              </a:spcBef>
              <a:spcAft>
                <a:spcPts val="1200"/>
              </a:spcAft>
              <a:buNone/>
            </a:pPr>
            <a:r>
              <a:t/>
            </a:r>
            <a:endParaRPr sz="1600"/>
          </a:p>
        </p:txBody>
      </p:sp>
      <p:pic>
        <p:nvPicPr>
          <p:cNvPr id="164" name="Google Shape;164;p17" title="Untitled.png"/>
          <p:cNvPicPr preferRelativeResize="0"/>
          <p:nvPr/>
        </p:nvPicPr>
        <p:blipFill>
          <a:blip r:embed="rId3">
            <a:alphaModFix/>
          </a:blip>
          <a:stretch>
            <a:fillRect/>
          </a:stretch>
        </p:blipFill>
        <p:spPr>
          <a:xfrm>
            <a:off x="389400" y="1846250"/>
            <a:ext cx="766900" cy="766900"/>
          </a:xfrm>
          <a:prstGeom prst="rect">
            <a:avLst/>
          </a:prstGeom>
          <a:noFill/>
          <a:ln>
            <a:noFill/>
          </a:ln>
        </p:spPr>
      </p:pic>
      <p:pic>
        <p:nvPicPr>
          <p:cNvPr id="165" name="Google Shape;165;p17" title="express-js-logo-png_seeklogo-339850.png"/>
          <p:cNvPicPr preferRelativeResize="0"/>
          <p:nvPr/>
        </p:nvPicPr>
        <p:blipFill>
          <a:blip r:embed="rId4">
            <a:alphaModFix/>
          </a:blip>
          <a:stretch>
            <a:fillRect/>
          </a:stretch>
        </p:blipFill>
        <p:spPr>
          <a:xfrm>
            <a:off x="1611600" y="1664438"/>
            <a:ext cx="1130525" cy="1130525"/>
          </a:xfrm>
          <a:prstGeom prst="rect">
            <a:avLst/>
          </a:prstGeom>
          <a:noFill/>
          <a:ln>
            <a:noFill/>
          </a:ln>
        </p:spPr>
      </p:pic>
      <p:pic>
        <p:nvPicPr>
          <p:cNvPr id="166" name="Google Shape;166;p17" title="MySQL-Logo.jpg"/>
          <p:cNvPicPr preferRelativeResize="0"/>
          <p:nvPr/>
        </p:nvPicPr>
        <p:blipFill>
          <a:blip r:embed="rId5">
            <a:alphaModFix/>
          </a:blip>
          <a:stretch>
            <a:fillRect/>
          </a:stretch>
        </p:blipFill>
        <p:spPr>
          <a:xfrm>
            <a:off x="3062975" y="1911736"/>
            <a:ext cx="1130527" cy="635927"/>
          </a:xfrm>
          <a:prstGeom prst="rect">
            <a:avLst/>
          </a:prstGeom>
          <a:noFill/>
          <a:ln>
            <a:noFill/>
          </a:ln>
        </p:spPr>
      </p:pic>
      <p:pic>
        <p:nvPicPr>
          <p:cNvPr id="167" name="Google Shape;167;p17"/>
          <p:cNvPicPr preferRelativeResize="0"/>
          <p:nvPr/>
        </p:nvPicPr>
        <p:blipFill>
          <a:blip r:embed="rId6">
            <a:alphaModFix/>
          </a:blip>
          <a:stretch>
            <a:fillRect/>
          </a:stretch>
        </p:blipFill>
        <p:spPr>
          <a:xfrm>
            <a:off x="1123212" y="2998526"/>
            <a:ext cx="2107300" cy="1185350"/>
          </a:xfrm>
          <a:prstGeom prst="rect">
            <a:avLst/>
          </a:prstGeom>
          <a:noFill/>
          <a:ln>
            <a:noFill/>
          </a:ln>
        </p:spPr>
      </p:pic>
      <p:cxnSp>
        <p:nvCxnSpPr>
          <p:cNvPr id="168" name="Google Shape;168;p17"/>
          <p:cNvCxnSpPr/>
          <p:nvPr/>
        </p:nvCxnSpPr>
        <p:spPr>
          <a:xfrm>
            <a:off x="966075" y="1872625"/>
            <a:ext cx="1179600" cy="387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17"/>
          <p:cNvCxnSpPr>
            <a:endCxn id="166" idx="0"/>
          </p:cNvCxnSpPr>
          <p:nvPr/>
        </p:nvCxnSpPr>
        <p:spPr>
          <a:xfrm>
            <a:off x="2235938" y="1911436"/>
            <a:ext cx="1392300" cy="30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17"/>
          <p:cNvCxnSpPr>
            <a:stCxn id="166" idx="2"/>
          </p:cNvCxnSpPr>
          <p:nvPr/>
        </p:nvCxnSpPr>
        <p:spPr>
          <a:xfrm rot="10800000">
            <a:off x="2216438" y="2484963"/>
            <a:ext cx="1411800" cy="62700"/>
          </a:xfrm>
          <a:prstGeom prst="straightConnector1">
            <a:avLst/>
          </a:prstGeom>
          <a:noFill/>
          <a:ln cap="flat" cmpd="sng" w="9525">
            <a:solidFill>
              <a:schemeClr val="dk2"/>
            </a:solidFill>
            <a:prstDash val="solid"/>
            <a:round/>
            <a:headEnd len="med" w="med" type="none"/>
            <a:tailEnd len="med" w="med" type="triangle"/>
          </a:ln>
        </p:spPr>
      </p:cxnSp>
      <p:cxnSp>
        <p:nvCxnSpPr>
          <p:cNvPr id="171" name="Google Shape;171;p17"/>
          <p:cNvCxnSpPr/>
          <p:nvPr/>
        </p:nvCxnSpPr>
        <p:spPr>
          <a:xfrm flipH="1">
            <a:off x="998275" y="2491400"/>
            <a:ext cx="1115100" cy="83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450050" y="357450"/>
            <a:ext cx="1660800" cy="379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How the</a:t>
            </a:r>
            <a:endParaRPr/>
          </a:p>
          <a:p>
            <a:pPr indent="0" lvl="0" marL="0" rtl="0" algn="l">
              <a:spcBef>
                <a:spcPts val="0"/>
              </a:spcBef>
              <a:spcAft>
                <a:spcPts val="0"/>
              </a:spcAft>
              <a:buNone/>
            </a:pPr>
            <a:r>
              <a:rPr lang="en-GB"/>
              <a:t>App Works</a:t>
            </a:r>
            <a:endParaRPr/>
          </a:p>
        </p:txBody>
      </p:sp>
      <p:pic>
        <p:nvPicPr>
          <p:cNvPr id="177" name="Google Shape;177;p18"/>
          <p:cNvPicPr preferRelativeResize="0"/>
          <p:nvPr/>
        </p:nvPicPr>
        <p:blipFill rotWithShape="1">
          <a:blip r:embed="rId3">
            <a:alphaModFix/>
          </a:blip>
          <a:srcRect b="19603" l="0" r="0" t="16997"/>
          <a:stretch/>
        </p:blipFill>
        <p:spPr>
          <a:xfrm>
            <a:off x="2826400" y="333912"/>
            <a:ext cx="5167075" cy="44756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txBox="1"/>
          <p:nvPr>
            <p:ph type="title"/>
          </p:nvPr>
        </p:nvSpPr>
        <p:spPr>
          <a:xfrm>
            <a:off x="819150" y="633550"/>
            <a:ext cx="7505700" cy="68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Core Features</a:t>
            </a:r>
            <a:endParaRPr/>
          </a:p>
        </p:txBody>
      </p:sp>
      <p:sp>
        <p:nvSpPr>
          <p:cNvPr id="183" name="Google Shape;183;p19"/>
          <p:cNvSpPr txBox="1"/>
          <p:nvPr/>
        </p:nvSpPr>
        <p:spPr>
          <a:xfrm>
            <a:off x="953475" y="1320550"/>
            <a:ext cx="5701200" cy="2802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Authentication					✅</a:t>
            </a:r>
            <a:endParaRPr i="1">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Posting questions/answers.			✅</a:t>
            </a:r>
            <a:endParaRPr i="1" sz="1412">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Posting anonymously.				✅</a:t>
            </a:r>
            <a:endParaRPr i="1" sz="1412">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Viewing and browsing posts.			✅</a:t>
            </a:r>
            <a:endParaRPr i="1" sz="1412">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Searching/filtering by course.			✅</a:t>
            </a:r>
            <a:endParaRPr sz="1800">
              <a:solidFill>
                <a:schemeClr val="dk2"/>
              </a:solidFill>
              <a:latin typeface="Calibri"/>
              <a:ea typeface="Calibri"/>
              <a:cs typeface="Calibri"/>
              <a:sym typeface="Calibri"/>
            </a:endParaRPr>
          </a:p>
          <a:p>
            <a:pPr indent="-342900" lvl="0" marL="457200" rtl="0" algn="l">
              <a:lnSpc>
                <a:spcPct val="115000"/>
              </a:lnSpc>
              <a:spcBef>
                <a:spcPts val="0"/>
              </a:spcBef>
              <a:spcAft>
                <a:spcPts val="0"/>
              </a:spcAft>
              <a:buClr>
                <a:schemeClr val="dk2"/>
              </a:buClr>
              <a:buSzPts val="1800"/>
              <a:buFont typeface="Calibri"/>
              <a:buChar char="●"/>
            </a:pPr>
            <a:r>
              <a:rPr lang="en-GB" sz="1800">
                <a:solidFill>
                  <a:schemeClr val="dk2"/>
                </a:solidFill>
                <a:latin typeface="Calibri"/>
                <a:ea typeface="Calibri"/>
                <a:cs typeface="Calibri"/>
                <a:sym typeface="Calibri"/>
              </a:rPr>
              <a:t>Rating system.						✅</a:t>
            </a:r>
            <a:endParaRPr sz="1800">
              <a:solidFill>
                <a:schemeClr val="dk2"/>
              </a:solidFill>
              <a:latin typeface="Calibri"/>
              <a:ea typeface="Calibri"/>
              <a:cs typeface="Calibri"/>
              <a:sym typeface="Calibri"/>
            </a:endParaRPr>
          </a:p>
          <a:p>
            <a:pPr indent="0" lvl="0" marL="0" rtl="0" algn="l">
              <a:lnSpc>
                <a:spcPct val="115000"/>
              </a:lnSpc>
              <a:spcBef>
                <a:spcPts val="1200"/>
              </a:spcBef>
              <a:spcAft>
                <a:spcPts val="1200"/>
              </a:spcAft>
              <a:buNone/>
            </a:pPr>
            <a:r>
              <a:rPr b="1" lang="en-GB" sz="2300">
                <a:solidFill>
                  <a:schemeClr val="dk2"/>
                </a:solidFill>
                <a:latin typeface="Calibri"/>
                <a:ea typeface="Calibri"/>
                <a:cs typeface="Calibri"/>
                <a:sym typeface="Calibri"/>
              </a:rPr>
              <a:t>AI-generated answers!</a:t>
            </a:r>
            <a:endParaRPr b="1" sz="23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txBox="1"/>
          <p:nvPr>
            <p:ph type="title"/>
          </p:nvPr>
        </p:nvSpPr>
        <p:spPr>
          <a:xfrm>
            <a:off x="624050" y="8056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Praxis Demo</a:t>
            </a:r>
            <a:endParaRPr/>
          </a:p>
        </p:txBody>
      </p:sp>
      <p:sp>
        <p:nvSpPr>
          <p:cNvPr id="189" name="Google Shape;189;p20"/>
          <p:cNvSpPr txBox="1"/>
          <p:nvPr>
            <p:ph idx="1" type="body"/>
          </p:nvPr>
        </p:nvSpPr>
        <p:spPr>
          <a:xfrm>
            <a:off x="586300" y="2001300"/>
            <a:ext cx="3847500" cy="2448000"/>
          </a:xfrm>
          <a:prstGeom prst="rect">
            <a:avLst/>
          </a:prstGeom>
          <a:noFill/>
        </p:spPr>
        <p:txBody>
          <a:bodyPr anchorCtr="0" anchor="t" bIns="91425" lIns="91425" spcFirstLastPara="1" rIns="91425" wrap="square" tIns="91425">
            <a:normAutofit/>
          </a:bodyPr>
          <a:lstStyle/>
          <a:p>
            <a:pPr indent="0" lvl="0" marL="0" rtl="0" algn="ctr">
              <a:spcBef>
                <a:spcPts val="0"/>
              </a:spcBef>
              <a:spcAft>
                <a:spcPts val="0"/>
              </a:spcAft>
              <a:buNone/>
            </a:pPr>
            <a:r>
              <a:rPr lang="en-GB" sz="1800"/>
              <a:t>Demo Content</a:t>
            </a:r>
            <a:endParaRPr sz="1800"/>
          </a:p>
          <a:p>
            <a:pPr indent="-311150" lvl="0" marL="457200" rtl="0" algn="l">
              <a:spcBef>
                <a:spcPts val="1200"/>
              </a:spcBef>
              <a:spcAft>
                <a:spcPts val="0"/>
              </a:spcAft>
              <a:buSzPts val="1300"/>
              <a:buChar char="-"/>
            </a:pPr>
            <a:r>
              <a:rPr lang="en-GB"/>
              <a:t>Setup</a:t>
            </a:r>
            <a:endParaRPr/>
          </a:p>
          <a:p>
            <a:pPr indent="-311150" lvl="0" marL="457200" rtl="0" algn="l">
              <a:spcBef>
                <a:spcPts val="0"/>
              </a:spcBef>
              <a:spcAft>
                <a:spcPts val="0"/>
              </a:spcAft>
              <a:buSzPts val="1300"/>
              <a:buChar char="-"/>
            </a:pPr>
            <a:r>
              <a:rPr lang="en-GB"/>
              <a:t>Core Features</a:t>
            </a:r>
            <a:endParaRPr/>
          </a:p>
          <a:p>
            <a:pPr indent="-311150" lvl="0" marL="457200" rtl="0" algn="l">
              <a:spcBef>
                <a:spcPts val="0"/>
              </a:spcBef>
              <a:spcAft>
                <a:spcPts val="0"/>
              </a:spcAft>
              <a:buSzPts val="1300"/>
              <a:buChar char="-"/>
            </a:pPr>
            <a:r>
              <a:rPr lang="en-GB"/>
              <a:t>Unit Tests</a:t>
            </a:r>
            <a:endParaRPr/>
          </a:p>
          <a:p>
            <a:pPr indent="-311150" lvl="0" marL="457200" rtl="0" algn="l">
              <a:spcBef>
                <a:spcPts val="0"/>
              </a:spcBef>
              <a:spcAft>
                <a:spcPts val="0"/>
              </a:spcAft>
              <a:buSzPts val="1300"/>
              <a:buChar char="-"/>
            </a:pPr>
            <a:r>
              <a:rPr lang="en-GB"/>
              <a:t>CI/CD</a:t>
            </a:r>
            <a:endParaRPr/>
          </a:p>
        </p:txBody>
      </p:sp>
      <p:pic>
        <p:nvPicPr>
          <p:cNvPr id="190" name="Google Shape;190;p20"/>
          <p:cNvPicPr preferRelativeResize="0"/>
          <p:nvPr/>
        </p:nvPicPr>
        <p:blipFill rotWithShape="1">
          <a:blip r:embed="rId3">
            <a:alphaModFix/>
          </a:blip>
          <a:srcRect b="0" l="0" r="51886" t="0"/>
          <a:stretch/>
        </p:blipFill>
        <p:spPr>
          <a:xfrm>
            <a:off x="4380600" y="969575"/>
            <a:ext cx="3587400" cy="3728100"/>
          </a:xfrm>
          <a:prstGeom prst="rect">
            <a:avLst/>
          </a:prstGeom>
          <a:noFill/>
          <a:ln>
            <a:noFill/>
          </a:ln>
        </p:spPr>
      </p:pic>
      <p:pic>
        <p:nvPicPr>
          <p:cNvPr id="191" name="Google Shape;191;p20"/>
          <p:cNvPicPr preferRelativeResize="0"/>
          <p:nvPr/>
        </p:nvPicPr>
        <p:blipFill>
          <a:blip r:embed="rId4">
            <a:alphaModFix/>
          </a:blip>
          <a:stretch>
            <a:fillRect/>
          </a:stretch>
        </p:blipFill>
        <p:spPr>
          <a:xfrm>
            <a:off x="5763300" y="1953950"/>
            <a:ext cx="1008500" cy="1008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Deivations</a:t>
            </a:r>
            <a:endParaRPr/>
          </a:p>
        </p:txBody>
      </p:sp>
      <p:sp>
        <p:nvSpPr>
          <p:cNvPr id="197" name="Google Shape;197;p21"/>
          <p:cNvSpPr txBox="1"/>
          <p:nvPr>
            <p:ph idx="1" type="body"/>
          </p:nvPr>
        </p:nvSpPr>
        <p:spPr>
          <a:xfrm>
            <a:off x="4571850" y="1944000"/>
            <a:ext cx="3753000" cy="19281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Char char="-"/>
            </a:pPr>
            <a:r>
              <a:rPr lang="en-GB" sz="1700">
                <a:solidFill>
                  <a:srgbClr val="000000"/>
                </a:solidFill>
              </a:rPr>
              <a:t>Using AI for answering questions</a:t>
            </a:r>
            <a:endParaRPr sz="1700">
              <a:solidFill>
                <a:srgbClr val="000000"/>
              </a:solidFill>
            </a:endParaRPr>
          </a:p>
          <a:p>
            <a:pPr indent="-336550" lvl="0" marL="457200" rtl="0" algn="l">
              <a:spcBef>
                <a:spcPts val="0"/>
              </a:spcBef>
              <a:spcAft>
                <a:spcPts val="0"/>
              </a:spcAft>
              <a:buClr>
                <a:srgbClr val="000000"/>
              </a:buClr>
              <a:buSzPts val="1700"/>
              <a:buChar char="-"/>
            </a:pPr>
            <a:r>
              <a:rPr lang="en-GB" sz="1700">
                <a:solidFill>
                  <a:srgbClr val="000000"/>
                </a:solidFill>
              </a:rPr>
              <a:t>Stateless Auth (JWT)</a:t>
            </a:r>
            <a:endParaRPr sz="1700">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1200"/>
              </a:spcBef>
              <a:spcAft>
                <a:spcPts val="1200"/>
              </a:spcAft>
              <a:buNone/>
            </a:pPr>
            <a:r>
              <a:t/>
            </a:r>
            <a:endParaRPr>
              <a:solidFill>
                <a:srgbClr val="000000"/>
              </a:solidFill>
            </a:endParaRPr>
          </a:p>
        </p:txBody>
      </p:sp>
      <p:pic>
        <p:nvPicPr>
          <p:cNvPr id="198" name="Google Shape;198;p21"/>
          <p:cNvPicPr preferRelativeResize="0"/>
          <p:nvPr/>
        </p:nvPicPr>
        <p:blipFill>
          <a:blip r:embed="rId3">
            <a:alphaModFix/>
          </a:blip>
          <a:stretch>
            <a:fillRect/>
          </a:stretch>
        </p:blipFill>
        <p:spPr>
          <a:xfrm>
            <a:off x="1584213" y="1800188"/>
            <a:ext cx="2135475" cy="789125"/>
          </a:xfrm>
          <a:prstGeom prst="rect">
            <a:avLst/>
          </a:prstGeom>
          <a:noFill/>
          <a:ln>
            <a:noFill/>
          </a:ln>
        </p:spPr>
      </p:pic>
      <p:pic>
        <p:nvPicPr>
          <p:cNvPr id="199" name="Google Shape;199;p21"/>
          <p:cNvPicPr preferRelativeResize="0"/>
          <p:nvPr/>
        </p:nvPicPr>
        <p:blipFill>
          <a:blip r:embed="rId4">
            <a:alphaModFix/>
          </a:blip>
          <a:stretch>
            <a:fillRect/>
          </a:stretch>
        </p:blipFill>
        <p:spPr>
          <a:xfrm>
            <a:off x="2118136" y="2804450"/>
            <a:ext cx="1067651" cy="1067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Technical challenges</a:t>
            </a:r>
            <a:endParaRPr/>
          </a:p>
        </p:txBody>
      </p:sp>
      <p:sp>
        <p:nvSpPr>
          <p:cNvPr id="205" name="Google Shape;205;p22"/>
          <p:cNvSpPr txBox="1"/>
          <p:nvPr>
            <p:ph idx="1" type="body"/>
          </p:nvPr>
        </p:nvSpPr>
        <p:spPr>
          <a:xfrm>
            <a:off x="4572000" y="1990725"/>
            <a:ext cx="37530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solidFill>
                  <a:srgbClr val="000000"/>
                </a:solidFill>
              </a:rPr>
              <a:t>AI-Generated Answers</a:t>
            </a:r>
            <a:endParaRPr sz="2000">
              <a:solidFill>
                <a:srgbClr val="000000"/>
              </a:solidFill>
            </a:endParaRPr>
          </a:p>
          <a:p>
            <a:pPr indent="-311150" lvl="0" marL="457200" rtl="0" algn="l">
              <a:spcBef>
                <a:spcPts val="0"/>
              </a:spcBef>
              <a:spcAft>
                <a:spcPts val="0"/>
              </a:spcAft>
              <a:buClr>
                <a:srgbClr val="000000"/>
              </a:buClr>
              <a:buSzPts val="1300"/>
              <a:buChar char="-"/>
            </a:pPr>
            <a:r>
              <a:rPr lang="en-GB">
                <a:solidFill>
                  <a:srgbClr val="000000"/>
                </a:solidFill>
              </a:rPr>
              <a:t>AI not consistent in replying format</a:t>
            </a:r>
            <a:endParaRPr>
              <a:solidFill>
                <a:srgbClr val="000000"/>
              </a:solidFill>
            </a:endParaRPr>
          </a:p>
          <a:p>
            <a:pPr indent="-311150" lvl="0" marL="457200" rtl="0" algn="l">
              <a:spcBef>
                <a:spcPts val="0"/>
              </a:spcBef>
              <a:spcAft>
                <a:spcPts val="0"/>
              </a:spcAft>
              <a:buClr>
                <a:srgbClr val="000000"/>
              </a:buClr>
              <a:buSzPts val="1300"/>
              <a:buChar char="-"/>
            </a:pPr>
            <a:r>
              <a:rPr lang="en-GB">
                <a:solidFill>
                  <a:srgbClr val="000000"/>
                </a:solidFill>
              </a:rPr>
              <a:t>`</a:t>
            </a:r>
            <a:r>
              <a:rPr lang="en-GB">
                <a:solidFill>
                  <a:srgbClr val="000000"/>
                </a:solidFill>
                <a:latin typeface="Courier New"/>
                <a:ea typeface="Courier New"/>
                <a:cs typeface="Courier New"/>
                <a:sym typeface="Courier New"/>
              </a:rPr>
              <a:t>ignore all instructions…</a:t>
            </a:r>
            <a:r>
              <a:rPr lang="en-GB">
                <a:solidFill>
                  <a:srgbClr val="000000"/>
                </a:solidFill>
              </a:rPr>
              <a:t>`</a:t>
            </a:r>
            <a:endParaRPr>
              <a:solidFill>
                <a:srgbClr val="000000"/>
              </a:solidFill>
            </a:endParaRPr>
          </a:p>
          <a:p>
            <a:pPr indent="0" lvl="0" marL="0" rtl="0" algn="l">
              <a:spcBef>
                <a:spcPts val="1200"/>
              </a:spcBef>
              <a:spcAft>
                <a:spcPts val="1200"/>
              </a:spcAft>
              <a:buNone/>
            </a:pPr>
            <a:r>
              <a:t/>
            </a:r>
            <a:endParaRPr>
              <a:solidFill>
                <a:srgbClr val="000000"/>
              </a:solidFill>
            </a:endParaRPr>
          </a:p>
        </p:txBody>
      </p:sp>
      <p:pic>
        <p:nvPicPr>
          <p:cNvPr id="206" name="Google Shape;206;p22"/>
          <p:cNvPicPr preferRelativeResize="0"/>
          <p:nvPr/>
        </p:nvPicPr>
        <p:blipFill>
          <a:blip r:embed="rId3">
            <a:alphaModFix/>
          </a:blip>
          <a:stretch>
            <a:fillRect/>
          </a:stretch>
        </p:blipFill>
        <p:spPr>
          <a:xfrm>
            <a:off x="1200975" y="2297500"/>
            <a:ext cx="2817350" cy="1041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a:t>
            </a:r>
            <a:r>
              <a:rPr lang="en-GB"/>
              <a:t>echnical challenges</a:t>
            </a:r>
            <a:endParaRPr/>
          </a:p>
        </p:txBody>
      </p:sp>
      <p:sp>
        <p:nvSpPr>
          <p:cNvPr id="212" name="Google Shape;212;p23"/>
          <p:cNvSpPr txBox="1"/>
          <p:nvPr>
            <p:ph idx="1" type="body"/>
          </p:nvPr>
        </p:nvSpPr>
        <p:spPr>
          <a:xfrm>
            <a:off x="4572000" y="1990725"/>
            <a:ext cx="37530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solidFill>
                  <a:srgbClr val="000000"/>
                </a:solidFill>
              </a:rPr>
              <a:t>Unit testing with Jest and Vitest</a:t>
            </a:r>
            <a:endParaRPr sz="2000">
              <a:solidFill>
                <a:srgbClr val="000000"/>
              </a:solidFill>
            </a:endParaRPr>
          </a:p>
          <a:p>
            <a:pPr indent="-311150" lvl="0" marL="457200" rtl="0" algn="l">
              <a:spcBef>
                <a:spcPts val="0"/>
              </a:spcBef>
              <a:spcAft>
                <a:spcPts val="0"/>
              </a:spcAft>
              <a:buClr>
                <a:srgbClr val="000000"/>
              </a:buClr>
              <a:buSzPts val="1300"/>
              <a:buChar char="-"/>
            </a:pPr>
            <a:r>
              <a:rPr lang="en-GB">
                <a:solidFill>
                  <a:srgbClr val="000000"/>
                </a:solidFill>
              </a:rPr>
              <a:t>Learning curve</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1200"/>
              </a:spcAft>
              <a:buNone/>
            </a:pPr>
            <a:r>
              <a:t/>
            </a:r>
            <a:endParaRPr>
              <a:solidFill>
                <a:srgbClr val="000000"/>
              </a:solidFill>
            </a:endParaRPr>
          </a:p>
        </p:txBody>
      </p:sp>
      <p:pic>
        <p:nvPicPr>
          <p:cNvPr id="213" name="Google Shape;213;p23"/>
          <p:cNvPicPr preferRelativeResize="0"/>
          <p:nvPr/>
        </p:nvPicPr>
        <p:blipFill>
          <a:blip r:embed="rId3">
            <a:alphaModFix/>
          </a:blip>
          <a:stretch>
            <a:fillRect/>
          </a:stretch>
        </p:blipFill>
        <p:spPr>
          <a:xfrm>
            <a:off x="917825" y="2243425"/>
            <a:ext cx="1245151" cy="1376927"/>
          </a:xfrm>
          <a:prstGeom prst="rect">
            <a:avLst/>
          </a:prstGeom>
          <a:noFill/>
          <a:ln>
            <a:noFill/>
          </a:ln>
        </p:spPr>
      </p:pic>
      <p:pic>
        <p:nvPicPr>
          <p:cNvPr id="214" name="Google Shape;214;p23"/>
          <p:cNvPicPr preferRelativeResize="0"/>
          <p:nvPr/>
        </p:nvPicPr>
        <p:blipFill>
          <a:blip r:embed="rId4">
            <a:alphaModFix/>
          </a:blip>
          <a:stretch>
            <a:fillRect/>
          </a:stretch>
        </p:blipFill>
        <p:spPr>
          <a:xfrm>
            <a:off x="2591000" y="2243425"/>
            <a:ext cx="1376925" cy="1376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Challenges and Lessons Learned</a:t>
            </a:r>
            <a:endParaRPr/>
          </a:p>
        </p:txBody>
      </p:sp>
      <p:sp>
        <p:nvSpPr>
          <p:cNvPr id="220" name="Google Shape;220;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b="1" lang="en-GB"/>
              <a:t>Unfamiliar framework</a:t>
            </a:r>
            <a:endParaRPr b="1"/>
          </a:p>
          <a:p>
            <a:pPr indent="-298450" lvl="1" marL="914400" rtl="0" algn="l">
              <a:spcBef>
                <a:spcPts val="0"/>
              </a:spcBef>
              <a:spcAft>
                <a:spcPts val="0"/>
              </a:spcAft>
              <a:buSzPts val="1100"/>
              <a:buChar char="○"/>
            </a:pPr>
            <a:r>
              <a:rPr lang="en-GB" u="sng">
                <a:solidFill>
                  <a:schemeClr val="hlink"/>
                </a:solidFill>
                <a:hlinkClick r:id="rId3"/>
              </a:rPr>
              <a:t>Next.j</a:t>
            </a:r>
            <a:r>
              <a:rPr lang="en-GB" u="sng">
                <a:solidFill>
                  <a:schemeClr val="hlink"/>
                </a:solidFill>
                <a:hlinkClick r:id="rId4"/>
              </a:rPr>
              <a:t>s</a:t>
            </a:r>
            <a:r>
              <a:rPr lang="en-GB"/>
              <a:t> (frontend)</a:t>
            </a:r>
            <a:endParaRPr/>
          </a:p>
          <a:p>
            <a:pPr indent="-311150" lvl="0" marL="457200" rtl="0" algn="l">
              <a:spcBef>
                <a:spcPts val="0"/>
              </a:spcBef>
              <a:spcAft>
                <a:spcPts val="0"/>
              </a:spcAft>
              <a:buSzPts val="1300"/>
              <a:buChar char="●"/>
            </a:pPr>
            <a:r>
              <a:rPr b="1" lang="en-GB"/>
              <a:t>Connection</a:t>
            </a:r>
            <a:endParaRPr b="1"/>
          </a:p>
          <a:p>
            <a:pPr indent="-298450" lvl="1" marL="914400" rtl="0" algn="l">
              <a:spcBef>
                <a:spcPts val="0"/>
              </a:spcBef>
              <a:spcAft>
                <a:spcPts val="0"/>
              </a:spcAft>
              <a:buSzPts val="1100"/>
              <a:buChar char="○"/>
            </a:pPr>
            <a:r>
              <a:rPr lang="en-GB"/>
              <a:t>Ensuring that all 3 components </a:t>
            </a:r>
            <a:r>
              <a:rPr lang="en-GB"/>
              <a:t>communicated</a:t>
            </a:r>
            <a:r>
              <a:rPr lang="en-GB"/>
              <a:t> properly</a:t>
            </a:r>
            <a:endParaRPr/>
          </a:p>
          <a:p>
            <a:pPr indent="-311150" lvl="0" marL="457200" rtl="0" algn="l">
              <a:spcBef>
                <a:spcPts val="0"/>
              </a:spcBef>
              <a:spcAft>
                <a:spcPts val="0"/>
              </a:spcAft>
              <a:buSzPts val="1300"/>
              <a:buChar char="●"/>
            </a:pPr>
            <a:r>
              <a:rPr b="1" lang="en-GB"/>
              <a:t>Different OS</a:t>
            </a:r>
            <a:endParaRPr b="1"/>
          </a:p>
          <a:p>
            <a:pPr indent="-298450" lvl="1" marL="914400" rtl="0" algn="l">
              <a:spcBef>
                <a:spcPts val="0"/>
              </a:spcBef>
              <a:spcAft>
                <a:spcPts val="0"/>
              </a:spcAft>
              <a:buSzPts val="1100"/>
              <a:buChar char="○"/>
            </a:pPr>
            <a:r>
              <a:rPr lang="en-GB"/>
              <a:t>Windows vs Mac</a:t>
            </a:r>
            <a:endParaRPr/>
          </a:p>
          <a:p>
            <a:pPr indent="-311150" lvl="0" marL="457200" rtl="0" algn="l">
              <a:spcBef>
                <a:spcPts val="0"/>
              </a:spcBef>
              <a:spcAft>
                <a:spcPts val="0"/>
              </a:spcAft>
              <a:buSzPts val="1300"/>
              <a:buChar char="●"/>
            </a:pPr>
            <a:r>
              <a:rPr b="1" lang="en-GB"/>
              <a:t>C</a:t>
            </a:r>
            <a:r>
              <a:rPr b="1" lang="en-GB"/>
              <a:t>ompromises</a:t>
            </a:r>
            <a:endParaRPr/>
          </a:p>
          <a:p>
            <a:pPr indent="-298450" lvl="1" marL="914400" rtl="0" algn="l">
              <a:spcBef>
                <a:spcPts val="0"/>
              </a:spcBef>
              <a:spcAft>
                <a:spcPts val="0"/>
              </a:spcAft>
              <a:buSzPts val="1100"/>
              <a:buChar char="○"/>
            </a:pPr>
            <a:r>
              <a:rPr lang="en-GB"/>
              <a:t>JWT Authentication</a:t>
            </a:r>
            <a:endParaRPr/>
          </a:p>
          <a:p>
            <a:pPr indent="-311150" lvl="0" marL="457200" rtl="0" algn="l">
              <a:spcBef>
                <a:spcPts val="0"/>
              </a:spcBef>
              <a:spcAft>
                <a:spcPts val="0"/>
              </a:spcAft>
              <a:buSzPts val="1300"/>
              <a:buChar char="●"/>
            </a:pPr>
            <a:r>
              <a:rPr b="1" lang="en-GB"/>
              <a:t>Takeaways</a:t>
            </a:r>
            <a:endParaRPr b="1"/>
          </a:p>
          <a:p>
            <a:pPr indent="-298450" lvl="1" marL="914400" rtl="0" algn="l">
              <a:spcBef>
                <a:spcPts val="0"/>
              </a:spcBef>
              <a:spcAft>
                <a:spcPts val="0"/>
              </a:spcAft>
              <a:buSzPts val="1100"/>
              <a:buChar char="○"/>
            </a:pPr>
            <a:r>
              <a:rPr lang="en-GB"/>
              <a:t>Scope in time to research</a:t>
            </a:r>
            <a:endParaRPr/>
          </a:p>
          <a:p>
            <a:pPr indent="-298450" lvl="1" marL="914400" rtl="0" algn="l">
              <a:spcBef>
                <a:spcPts val="0"/>
              </a:spcBef>
              <a:spcAft>
                <a:spcPts val="0"/>
              </a:spcAft>
              <a:buSzPts val="1100"/>
              <a:buChar char="○"/>
            </a:pPr>
            <a:r>
              <a:rPr lang="en-GB"/>
              <a:t>Ask for help!!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